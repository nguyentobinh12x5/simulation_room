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7" r:id="rId11"/>
    <p:sldId id="28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8"/>
    <p:restoredTop sz="94659"/>
  </p:normalViewPr>
  <p:slideViewPr>
    <p:cSldViewPr snapToGrid="0" snapToObjects="1">
      <p:cViewPr>
        <p:scale>
          <a:sx n="148" d="100"/>
          <a:sy n="148" d="100"/>
        </p:scale>
        <p:origin x="2544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57400"/>
            <a:ext cx="12191695" cy="38100"/>
          </a:xfrm>
          <a:prstGeom prst="rect">
            <a:avLst/>
          </a:prstGeom>
          <a:solidFill>
            <a:srgbClr val="2E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8655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Smart Lab Digital Twin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C9D6DE"/>
                </a:solidFill>
                <a:latin typeface="Calibri"/>
              </a:rPr>
              <a:t>Project 1 — The Connected Digital Twin (Foundational)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728655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FC1DE"/>
                </a:solidFill>
                <a:latin typeface="Calibri"/>
              </a:rPr>
              <a:t>Course: Digital Twin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3063240"/>
            <a:ext cx="5943600" cy="3017520"/>
          </a:xfrm>
          <a:prstGeom prst="roundRect">
            <a:avLst/>
          </a:prstGeom>
          <a:solidFill>
            <a:srgbClr val="244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Team Members</a:t>
            </a:r>
          </a:p>
          <a:p>
            <a:pPr algn="ctr">
              <a:spcAft>
                <a:spcPts val="1000"/>
              </a:spcAft>
            </a:pPr>
            <a:endParaRPr sz="1800" b="1">
              <a:solidFill>
                <a:srgbClr val="FFFFFF"/>
              </a:solidFill>
              <a:latin typeface="Calibri"/>
            </a:endParaRP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C7D0D8"/>
                </a:solidFill>
                <a:latin typeface="Calibri"/>
              </a:rPr>
              <a:t>1.  ____________________________________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C7D0D8"/>
                </a:solidFill>
                <a:latin typeface="Calibri"/>
              </a:rPr>
              <a:t>2.  ____________________________________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C7D0D8"/>
                </a:solidFill>
                <a:latin typeface="Calibri"/>
              </a:rPr>
              <a:t>3.  ____________________________________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C7D0D8"/>
                </a:solidFill>
                <a:latin typeface="Calibri"/>
              </a:rPr>
              <a:t>4.  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01940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Objective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6675120" cy="5120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•  Goal: </a:t>
            </a:r>
            <a:r>
              <a:rPr sz="1600" b="0">
                <a:solidFill>
                  <a:srgbClr val="5A6472"/>
                </a:solidFill>
                <a:latin typeface="Calibri"/>
              </a:rPr>
              <a:t>build a Connected Digital Twin of a laboratory room with a live, bidirectional Digital Thread.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472"/>
                </a:solidFill>
                <a:latin typeface="Calibri"/>
              </a:rPr>
              <a:t>•  A physics-based simulator generates realistic sensor streams (temperature, humidity, occupancy) published over MQTT.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472"/>
                </a:solidFill>
                <a:latin typeface="Calibri"/>
              </a:rPr>
              <a:t>•  A real-time dashboard and a 3D WebGL view mirror the room state and let the user act on the twin (AC control, setpoint, occupancy).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•  Closed loop: </a:t>
            </a:r>
            <a:r>
              <a:rPr sz="1600" b="0">
                <a:solidFill>
                  <a:srgbClr val="5A6472"/>
                </a:solidFill>
                <a:latin typeface="Calibri"/>
              </a:rPr>
              <a:t>user commands flow back to the simulator, which recomputes state and confirms it — a true Digital Twin, not just a Digital Shadow.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188720"/>
            <a:ext cx="4297680" cy="512064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C3B57"/>
                </a:solidFill>
                <a:latin typeface="Calibri"/>
              </a:rPr>
              <a:t>Brief coverage</a:t>
            </a:r>
          </a:p>
          <a:p>
            <a:pPr algn="l">
              <a:spcAft>
                <a:spcPts val="800"/>
              </a:spcAft>
            </a:pPr>
            <a:endParaRPr sz="1800" b="1" dirty="0">
              <a:solidFill>
                <a:srgbClr val="1C3B57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E8E5A"/>
                </a:solidFill>
                <a:latin typeface="Calibri"/>
              </a:rPr>
              <a:t>✓  Asset Virtualization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E8E5A"/>
                </a:solidFill>
                <a:latin typeface="Calibri"/>
              </a:rPr>
              <a:t>✓  Synthetic Data Ingestion (MQTT + JSON)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E8E5A"/>
                </a:solidFill>
                <a:latin typeface="Calibri"/>
              </a:rPr>
              <a:t>✓  6-Layer Architecture Mapping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E8E5A"/>
                </a:solidFill>
                <a:latin typeface="Calibri"/>
              </a:rPr>
              <a:t>✓  Real-time Dashboard + 30 °C alert</a:t>
            </a:r>
          </a:p>
          <a:p>
            <a:pPr algn="l">
              <a:spcAft>
                <a:spcPts val="800"/>
              </a:spcAft>
            </a:pPr>
            <a:endParaRPr sz="1500" b="0" dirty="0">
              <a:solidFill>
                <a:srgbClr val="1E8E5A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1C3B57"/>
                </a:solidFill>
                <a:latin typeface="Calibri"/>
              </a:rPr>
              <a:t>Beyond the brief: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E6690"/>
                </a:solidFill>
                <a:latin typeface="Calibri"/>
              </a:rPr>
              <a:t>+  Closed-loop PID HVAC control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E6690"/>
                </a:solidFill>
                <a:latin typeface="Calibri"/>
              </a:rPr>
              <a:t>+  Interactive 3D room view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2E6690"/>
                </a:solidFill>
                <a:latin typeface="Calibri"/>
              </a:rPr>
              <a:t>+  32 unit tests</a:t>
            </a:r>
          </a:p>
        </p:txBody>
      </p:sp>
    </p:spTree>
    <p:extLst>
      <p:ext uri="{BB962C8B-B14F-4D97-AF65-F5344CB8AC3E}">
        <p14:creationId xmlns:p14="http://schemas.microsoft.com/office/powerpoint/2010/main" val="315684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Asset Virtualization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DE"/>
                </a:solidFill>
                <a:latin typeface="Calibri"/>
              </a:rPr>
              <a:t>Digital layout of the room and its virtual sensors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852160" cy="5120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•  Virtual space: </a:t>
            </a:r>
            <a:r>
              <a:rPr sz="1600" b="0">
                <a:solidFill>
                  <a:srgbClr val="5A6472"/>
                </a:solidFill>
                <a:latin typeface="Calibri"/>
              </a:rPr>
              <a:t>a laboratory room plus an outer corridor with an automatic sliding glass door.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•  Virtual sensors: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–  Temperature (°C) — thermal model with room heat capacity, occupant heat load (100 W/person), and AC cooling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–  Humidity (%RH) — moisture diffusion model coupled to occupancy</a:t>
            </a:r>
          </a:p>
          <a:p>
            <a:pPr lvl="1" algn="l">
              <a:spcAft>
                <a:spcPts val="8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–  Occupancy (people) — bounded random walk, 0–30 occupants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•  Physics engine (physics.py): </a:t>
            </a:r>
            <a:r>
              <a:rPr sz="1600" b="0">
                <a:solidFill>
                  <a:srgbClr val="5A6472"/>
                </a:solidFill>
                <a:latin typeface="Calibri"/>
              </a:rPr>
              <a:t>each tick integrates heat/moisture balance equations, so sensor values respond causally to occupancy and HVAC — not just random noise.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•  Actuator: </a:t>
            </a:r>
            <a:r>
              <a:rPr sz="1600" b="0">
                <a:solidFill>
                  <a:srgbClr val="5A6472"/>
                </a:solidFill>
                <a:latin typeface="Calibri"/>
              </a:rPr>
              <a:t>variable-power AC (0–100 %, max 3500 W) with vent output temperature.</a:t>
            </a:r>
          </a:p>
        </p:txBody>
      </p:sp>
      <p:pic>
        <p:nvPicPr>
          <p:cNvPr id="4" name="Picture 3" descr="room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86425"/>
            <a:ext cx="5394960" cy="2633789"/>
          </a:xfrm>
          <a:prstGeom prst="rect">
            <a:avLst/>
          </a:prstGeom>
          <a:ln w="12700">
            <a:solidFill>
              <a:srgbClr val="C7D0D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6400800" y="6126480"/>
            <a:ext cx="53949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3D digital layout: lab room, corridor, sliding door, live occupants</a:t>
            </a:r>
          </a:p>
        </p:txBody>
      </p:sp>
    </p:spTree>
    <p:extLst>
      <p:ext uri="{BB962C8B-B14F-4D97-AF65-F5344CB8AC3E}">
        <p14:creationId xmlns:p14="http://schemas.microsoft.com/office/powerpoint/2010/main" val="4210859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6-Layer Architecture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DE"/>
                </a:solidFill>
                <a:latin typeface="Calibri"/>
              </a:rPr>
              <a:t>Sensing → Connectivity → Twin →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7863840" cy="713232"/>
          </a:xfrm>
          <a:prstGeom prst="roundRect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1. Physical / Simulated   </a:t>
            </a:r>
            <a:r>
              <a:rPr sz="1300" b="0">
                <a:solidFill>
                  <a:srgbClr val="5A6472"/>
                </a:solidFill>
                <a:latin typeface="Calibri"/>
              </a:rPr>
              <a:t>Physics simulator + PID controller (temp, humidity, occupancy, HVAC)</a:t>
            </a:r>
          </a:p>
        </p:txBody>
      </p:sp>
      <p:sp>
        <p:nvSpPr>
          <p:cNvPr id="4" name="Down Arrow 3"/>
          <p:cNvSpPr/>
          <p:nvPr/>
        </p:nvSpPr>
        <p:spPr>
          <a:xfrm>
            <a:off x="8549640" y="1801368"/>
            <a:ext cx="256032" cy="237744"/>
          </a:xfrm>
          <a:prstGeom prst="downArrow">
            <a:avLst/>
          </a:prstGeom>
          <a:solidFill>
            <a:srgbClr val="2E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984248"/>
            <a:ext cx="7863840" cy="713232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2. Data Acquisition   </a:t>
            </a:r>
            <a:r>
              <a:rPr sz="1300" b="0">
                <a:solidFill>
                  <a:srgbClr val="5A6472"/>
                </a:solidFill>
                <a:latin typeface="Calibri"/>
              </a:rPr>
              <a:t>paho-mqtt client publishes sensor + AC state as JSON every 2–5 s</a:t>
            </a:r>
          </a:p>
        </p:txBody>
      </p:sp>
      <p:sp>
        <p:nvSpPr>
          <p:cNvPr id="6" name="Down Arrow 5"/>
          <p:cNvSpPr/>
          <p:nvPr/>
        </p:nvSpPr>
        <p:spPr>
          <a:xfrm>
            <a:off x="8549640" y="2642616"/>
            <a:ext cx="256032" cy="237744"/>
          </a:xfrm>
          <a:prstGeom prst="downArrow">
            <a:avLst/>
          </a:prstGeom>
          <a:solidFill>
            <a:srgbClr val="2E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825496"/>
            <a:ext cx="7863840" cy="713232"/>
          </a:xfrm>
          <a:prstGeom prst="roundRect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3. Connectivity   </a:t>
            </a:r>
            <a:r>
              <a:rPr sz="1300" b="0">
                <a:solidFill>
                  <a:srgbClr val="5A6472"/>
                </a:solidFill>
                <a:latin typeface="Calibri"/>
              </a:rPr>
              <a:t>Eclipse Mosquitto MQTT broker — :1883 (TCP) / :9001 (WebSocket)</a:t>
            </a:r>
          </a:p>
        </p:txBody>
      </p:sp>
      <p:sp>
        <p:nvSpPr>
          <p:cNvPr id="8" name="Down Arrow 7"/>
          <p:cNvSpPr/>
          <p:nvPr/>
        </p:nvSpPr>
        <p:spPr>
          <a:xfrm>
            <a:off x="8549640" y="3483864"/>
            <a:ext cx="256032" cy="237744"/>
          </a:xfrm>
          <a:prstGeom prst="downArrow">
            <a:avLst/>
          </a:prstGeom>
          <a:solidFill>
            <a:srgbClr val="2E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3666744"/>
            <a:ext cx="7863840" cy="713232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4. Data Processing   </a:t>
            </a:r>
            <a:r>
              <a:rPr sz="1300" b="0">
                <a:solidFill>
                  <a:srgbClr val="5A6472"/>
                </a:solidFill>
                <a:latin typeface="Calibri"/>
              </a:rPr>
              <a:t>Background MQTT thread buffers messages in a thread-safe deque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549640" y="4325112"/>
            <a:ext cx="256032" cy="237744"/>
          </a:xfrm>
          <a:prstGeom prst="downArrow">
            <a:avLst/>
          </a:prstGeom>
          <a:solidFill>
            <a:srgbClr val="2E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4507992"/>
            <a:ext cx="7863840" cy="713232"/>
          </a:xfrm>
          <a:prstGeom prst="roundRect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5. Application   </a:t>
            </a:r>
            <a:r>
              <a:rPr sz="1300" b="0">
                <a:solidFill>
                  <a:srgbClr val="5A6472"/>
                </a:solidFill>
                <a:latin typeface="Calibri"/>
              </a:rPr>
              <a:t>Streamlit dashboard + Three.js 3D view: metrics, charts, controls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549640" y="5166360"/>
            <a:ext cx="256032" cy="237744"/>
          </a:xfrm>
          <a:prstGeom prst="downArrow">
            <a:avLst/>
          </a:prstGeom>
          <a:solidFill>
            <a:srgbClr val="2E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7863840" cy="713232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6. Interaction   </a:t>
            </a:r>
            <a:r>
              <a:rPr sz="1300" b="0">
                <a:solidFill>
                  <a:srgbClr val="5A6472"/>
                </a:solidFill>
                <a:latin typeface="Calibri"/>
              </a:rPr>
              <a:t>User: AC on/off, setpoint, simulation speed, occupancy override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463040"/>
            <a:ext cx="2743200" cy="4023360"/>
          </a:xfrm>
          <a:prstGeom prst="round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63A3A"/>
                </a:solidFill>
                <a:latin typeface="Calibri"/>
              </a:rPr>
              <a:t>Feedback loop (closed twin)</a:t>
            </a:r>
          </a:p>
          <a:p>
            <a:pPr algn="l">
              <a:spcAft>
                <a:spcPts val="600"/>
              </a:spcAft>
            </a:pPr>
            <a:endParaRPr sz="1500" b="1">
              <a:solidFill>
                <a:srgbClr val="D63A3A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Dashboard publishes commands to twin/room1/cmd/* → broker → simulator recomputes state → confirmed state flows back to all clients.</a:t>
            </a:r>
          </a:p>
          <a:p>
            <a:pPr algn="l">
              <a:spcAft>
                <a:spcPts val="600"/>
              </a:spcAft>
            </a:pPr>
            <a:endParaRPr sz="1300" b="0">
              <a:solidFill>
                <a:srgbClr val="5A6472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C3B57"/>
                </a:solidFill>
                <a:latin typeface="Calibri"/>
              </a:rPr>
              <a:t>This upgrades the system from a one-way Digital Shadow to a true bidirectional Digital Twin.</a:t>
            </a:r>
          </a:p>
        </p:txBody>
      </p:sp>
    </p:spTree>
    <p:extLst>
      <p:ext uri="{BB962C8B-B14F-4D97-AF65-F5344CB8AC3E}">
        <p14:creationId xmlns:p14="http://schemas.microsoft.com/office/powerpoint/2010/main" val="426985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Synthetic Data Ingestion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DE"/>
                </a:solidFill>
                <a:latin typeface="Calibri"/>
              </a:rPr>
              <a:t>MQTT topics and JSON payloads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7680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C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C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Payload / Rate</a:t>
                      </a:r>
                    </a:p>
                  </a:txBody>
                  <a:tcPr>
                    <a:solidFill>
                      <a:srgbClr val="1C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Retained</a:t>
                      </a:r>
                    </a:p>
                  </a:txBody>
                  <a:tcPr>
                    <a:solidFill>
                      <a:srgbClr val="1C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onsolas"/>
                        </a:defRPr>
                      </a:pPr>
                      <a:r>
                        <a:t>twin/room1/temperature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Sim → Dash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JSON, every 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onsolas"/>
                        </a:defRPr>
                      </a:pPr>
                      <a:r>
                        <a:t>twin/room1/humidity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Sim → Dash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JSON, every 5 s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onsolas"/>
                        </a:defRPr>
                      </a:pPr>
                      <a:r>
                        <a:t>twin/room1/occupancy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Sim → Dash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JSON, every 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onsolas"/>
                        </a:defRPr>
                      </a:pPr>
                      <a:r>
                        <a:t>twin/room1/hvac/state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Sim → Dash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hvac_on, ac_power_pct, setpoint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onsolas"/>
                        </a:defRPr>
                      </a:pPr>
                      <a:r>
                        <a:t>twin/room1/ac/detail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Sim → Dash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power, vent temp,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onsolas"/>
                        </a:defRPr>
                      </a:pPr>
                      <a:r>
                        <a:t>twin/room1/status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Sim → Dash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online / offline (LWT)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onsolas"/>
                        </a:defRPr>
                      </a:pPr>
                      <a:r>
                        <a:t>twin/room1/cmd/hvac | setpoint | occupancy | timescale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Dash → 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control commands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366760" y="1234440"/>
            <a:ext cx="3383280" cy="2834640"/>
          </a:xfrm>
          <a:prstGeom prst="roundRect">
            <a:avLst/>
          </a:prstGeom>
          <a:solidFill>
            <a:srgbClr val="15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8FC1DE"/>
                </a:solidFill>
                <a:latin typeface="Calibri"/>
              </a:rPr>
              <a:t>Sample payload (JSON)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9D39A"/>
                </a:solidFill>
                <a:latin typeface="Consolas"/>
              </a:rPr>
              <a:t>  "sensor": "temperature",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9D39A"/>
                </a:solidFill>
                <a:latin typeface="Consolas"/>
              </a:rPr>
              <a:t>  "value": 24.5,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9D39A"/>
                </a:solidFill>
                <a:latin typeface="Consolas"/>
              </a:rPr>
              <a:t>  "unit": "C",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9D39A"/>
                </a:solidFill>
                <a:latin typeface="Consolas"/>
              </a:rPr>
              <a:t>  "timestamp":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A9D39A"/>
                </a:solidFill>
                <a:latin typeface="Consolas"/>
              </a:rPr>
              <a:t>    "2026-07-17T14:40:00Z"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4251960"/>
            <a:ext cx="3383280" cy="201168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C3B57"/>
                </a:solidFill>
                <a:latin typeface="Calibri"/>
              </a:rPr>
              <a:t>Reliability features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• Retained messages — instant state for new clients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• Last Will &amp; Testament — dashboard shows OFFLINE if the simulator dies</a:t>
            </a:r>
          </a:p>
        </p:txBody>
      </p:sp>
    </p:spTree>
    <p:extLst>
      <p:ext uri="{BB962C8B-B14F-4D97-AF65-F5344CB8AC3E}">
        <p14:creationId xmlns:p14="http://schemas.microsoft.com/office/powerpoint/2010/main" val="41794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Technical Summary — Why MQTT?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DE"/>
                </a:solidFill>
                <a:latin typeface="Calibri"/>
              </a:rPr>
              <a:t>Chosen messaging protocol and its suitability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5486400" cy="233172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690"/>
                </a:solidFill>
                <a:latin typeface="Calibri"/>
              </a:rPr>
              <a:t>Decoupling</a:t>
            </a:r>
          </a:p>
          <a:p>
            <a:pPr algn="l">
              <a:spcAft>
                <a:spcPts val="600"/>
              </a:spcAft>
            </a:pPr>
            <a:endParaRPr sz="1700" b="1">
              <a:solidFill>
                <a:srgbClr val="2E669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Publish/subscribe: the simulator never knows who is listening. Streamlit dashboard and the browser-based 3D view both subscribe to the same topics with zero extra load on the simulator.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234440"/>
            <a:ext cx="5486400" cy="233172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690"/>
                </a:solidFill>
                <a:latin typeface="Calibri"/>
              </a:rPr>
              <a:t>Low latency &amp; overhead</a:t>
            </a:r>
          </a:p>
          <a:p>
            <a:pPr algn="l">
              <a:spcAft>
                <a:spcPts val="600"/>
              </a:spcAft>
            </a:pPr>
            <a:endParaRPr sz="1700" b="1">
              <a:solidFill>
                <a:srgbClr val="2E669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2-byte fixed header, persistent TCP connection — ideal for continuous telemetry every 2–5 s, far cheaper than REST polling.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40"/>
            <a:ext cx="5486400" cy="233172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690"/>
                </a:solidFill>
                <a:latin typeface="Calibri"/>
              </a:rPr>
              <a:t>Resilience (LWT + retained)</a:t>
            </a:r>
          </a:p>
          <a:p>
            <a:pPr algn="l">
              <a:spcAft>
                <a:spcPts val="600"/>
              </a:spcAft>
            </a:pPr>
            <a:endParaRPr sz="1700" b="1">
              <a:solidFill>
                <a:srgbClr val="2E669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The broker announces simulator crashes instantly via Last Will; retained messages give any newly connected client the latest state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49040"/>
            <a:ext cx="5486400" cy="233172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6690"/>
                </a:solidFill>
                <a:latin typeface="Calibri"/>
              </a:rPr>
              <a:t>Bidirectional by design</a:t>
            </a:r>
          </a:p>
          <a:p>
            <a:pPr algn="l">
              <a:spcAft>
                <a:spcPts val="600"/>
              </a:spcAft>
            </a:pPr>
            <a:endParaRPr sz="1700" b="1">
              <a:solidFill>
                <a:srgbClr val="2E669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The same broker carries downstream telemetry and upstream cmd/* control messages — the Digital Thread that closes the twin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89320"/>
            <a:ext cx="11247120" cy="685800"/>
          </a:xfrm>
          <a:prstGeom prst="roundRect">
            <a:avLst/>
          </a:prstGeom>
          <a:solidFill>
            <a:srgbClr val="E3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C3B57"/>
                </a:solidFill>
                <a:latin typeface="Calibri"/>
              </a:rPr>
              <a:t>vs. alternatives:  </a:t>
            </a:r>
            <a:r>
              <a:rPr sz="1300" b="0">
                <a:solidFill>
                  <a:srgbClr val="5A6472"/>
                </a:solidFill>
                <a:latin typeface="Calibri"/>
              </a:rPr>
              <a:t>CSV = static, no live thread.  REST polling = high overhead, no push, no offline detection. MQTT is the natural fit for an event-driven digital space.</a:t>
            </a:r>
          </a:p>
        </p:txBody>
      </p:sp>
    </p:spTree>
    <p:extLst>
      <p:ext uri="{BB962C8B-B14F-4D97-AF65-F5344CB8AC3E}">
        <p14:creationId xmlns:p14="http://schemas.microsoft.com/office/powerpoint/2010/main" val="286752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Real-Time Dashboard (Streamlit)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DE"/>
                </a:solidFill>
                <a:latin typeface="Calibri"/>
              </a:rPr>
              <a:t>Live sensor readings, threshold alerts, central control</a:t>
            </a:r>
          </a:p>
        </p:txBody>
      </p:sp>
      <p:pic>
        <p:nvPicPr>
          <p:cNvPr id="3" name="Picture 2" descr="dashboard-full.png"/>
          <p:cNvPicPr>
            <a:picLocks noChangeAspect="1"/>
          </p:cNvPicPr>
          <p:nvPr/>
        </p:nvPicPr>
        <p:blipFill>
          <a:blip r:embed="rId2"/>
          <a:srcRect l="-1" r="-892" b="11975"/>
          <a:stretch>
            <a:fillRect/>
          </a:stretch>
        </p:blipFill>
        <p:spPr>
          <a:xfrm>
            <a:off x="339634" y="916287"/>
            <a:ext cx="6635932" cy="2826470"/>
          </a:xfrm>
          <a:prstGeom prst="rect">
            <a:avLst/>
          </a:prstGeom>
          <a:ln w="12700">
            <a:solidFill>
              <a:srgbClr val="C7D0D8"/>
            </a:solidFill>
          </a:ln>
        </p:spPr>
      </p:pic>
      <p:pic>
        <p:nvPicPr>
          <p:cNvPr id="4" name="Picture 3" descr="dashboard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08" y="3777342"/>
            <a:ext cx="6292469" cy="3071949"/>
          </a:xfrm>
          <a:prstGeom prst="rect">
            <a:avLst/>
          </a:prstGeom>
          <a:ln w="12700">
            <a:solidFill>
              <a:srgbClr val="C7D0D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7489370" y="1051560"/>
            <a:ext cx="4702629" cy="5394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C3B57"/>
                </a:solidFill>
                <a:latin typeface="Calibri"/>
              </a:rPr>
              <a:t>•  1-second refresh </a:t>
            </a:r>
            <a:r>
              <a:rPr sz="1400" b="0" dirty="0">
                <a:solidFill>
                  <a:srgbClr val="5A6472"/>
                </a:solidFill>
                <a:latin typeface="Calibri"/>
              </a:rPr>
              <a:t>via MQTT background thread + </a:t>
            </a:r>
            <a:r>
              <a:rPr sz="1400" b="0" dirty="0" err="1">
                <a:solidFill>
                  <a:srgbClr val="5A6472"/>
                </a:solidFill>
                <a:latin typeface="Calibri"/>
              </a:rPr>
              <a:t>Streamlit</a:t>
            </a:r>
            <a:r>
              <a:rPr sz="1400" b="0" dirty="0">
                <a:solidFill>
                  <a:srgbClr val="5A6472"/>
                </a:solidFill>
                <a:latin typeface="Calibri"/>
              </a:rPr>
              <a:t> fragments.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C3B57"/>
                </a:solidFill>
                <a:latin typeface="Calibri"/>
              </a:rPr>
              <a:t>•  Live metrics: </a:t>
            </a:r>
            <a:r>
              <a:rPr sz="1400" b="0" dirty="0">
                <a:solidFill>
                  <a:srgbClr val="5A6472"/>
                </a:solidFill>
                <a:latin typeface="Calibri"/>
              </a:rPr>
              <a:t>temperature, humidity, occupancy, HVAC status, AC power %, vent temperature.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C3B57"/>
                </a:solidFill>
                <a:latin typeface="Calibri"/>
              </a:rPr>
              <a:t>•  Threshold alert: </a:t>
            </a:r>
            <a:r>
              <a:rPr sz="1400" b="0" dirty="0">
                <a:solidFill>
                  <a:srgbClr val="5A6472"/>
                </a:solidFill>
                <a:latin typeface="Calibri"/>
              </a:rPr>
              <a:t>banner when temperature exceeds 30 °C, with 29.5 °C hysteresis to stop alert flicker.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C3B57"/>
                </a:solidFill>
                <a:latin typeface="Calibri"/>
              </a:rPr>
              <a:t>•  Predictive alert: </a:t>
            </a:r>
            <a:r>
              <a:rPr sz="1400" b="0" dirty="0">
                <a:solidFill>
                  <a:srgbClr val="5A6472"/>
                </a:solidFill>
                <a:latin typeface="Calibri"/>
              </a:rPr>
              <a:t>linear trend fit warns before the limit is crossed.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C3B57"/>
                </a:solidFill>
                <a:latin typeface="Calibri"/>
              </a:rPr>
              <a:t>•  Offline detection: </a:t>
            </a:r>
            <a:r>
              <a:rPr sz="1400" b="0" dirty="0">
                <a:solidFill>
                  <a:srgbClr val="5A6472"/>
                </a:solidFill>
                <a:latin typeface="Calibri"/>
              </a:rPr>
              <a:t>LWT status turns the dashboard red if the simulator disconnects.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C3B57"/>
                </a:solidFill>
                <a:latin typeface="Calibri"/>
              </a:rPr>
              <a:t>•  Central control panel: </a:t>
            </a:r>
            <a:r>
              <a:rPr sz="1400" b="0" dirty="0">
                <a:solidFill>
                  <a:srgbClr val="5A6472"/>
                </a:solidFill>
                <a:latin typeface="Calibri"/>
              </a:rPr>
              <a:t>AC on/off, setpoint slider, simulation speed (×1–×10), occupancy override — commands round-trip through the broker.</a:t>
            </a:r>
          </a:p>
        </p:txBody>
      </p:sp>
    </p:spTree>
    <p:extLst>
      <p:ext uri="{BB962C8B-B14F-4D97-AF65-F5344CB8AC3E}">
        <p14:creationId xmlns:p14="http://schemas.microsoft.com/office/powerpoint/2010/main" val="56227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Beyond the Brief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6DE"/>
                </a:solidFill>
                <a:latin typeface="Calibri"/>
              </a:rPr>
              <a:t>Closed-loop PID HVAC control and 3D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5760720" cy="5303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•  PID controller </a:t>
            </a:r>
            <a:r>
              <a:rPr sz="1500" b="0">
                <a:solidFill>
                  <a:srgbClr val="5A6472"/>
                </a:solidFill>
                <a:latin typeface="Calibri"/>
              </a:rPr>
              <a:t>regulates AC power (0–100 %) to lock room temperature onto the setpoint:</a:t>
            </a:r>
          </a:p>
          <a:p>
            <a:pPr lvl="1" algn="l">
              <a:spcAft>
                <a:spcPts val="8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–  Kp = 0.40 — fast response proportional to error</a:t>
            </a:r>
          </a:p>
          <a:p>
            <a:pPr lvl="1" algn="l">
              <a:spcAft>
                <a:spcPts val="8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–  Ki = 0.05 — removes steady-state offset under heavy load</a:t>
            </a:r>
          </a:p>
          <a:p>
            <a:pPr lvl="1" algn="l">
              <a:spcAft>
                <a:spcPts val="8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–  Kd = 0.05 — damps oscillation and overshoot</a:t>
            </a:r>
          </a:p>
          <a:p>
            <a:pPr lvl="1" algn="l">
              <a:spcAft>
                <a:spcPts val="8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–  Anti-windup (I_max = 20) + state reset on AC OFF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•  Handles extreme loads: </a:t>
            </a:r>
            <a:r>
              <a:rPr sz="1500" b="0">
                <a:solidFill>
                  <a:srgbClr val="5A6472"/>
                </a:solidFill>
                <a:latin typeface="Calibri"/>
              </a:rPr>
              <a:t>30 occupants ≈ 3000 W of heat — the controller still converges to setpoint.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•  3D room view (Three.js): </a:t>
            </a:r>
            <a:r>
              <a:rPr sz="1500" b="0">
                <a:solidFill>
                  <a:srgbClr val="5A6472"/>
                </a:solidFill>
                <a:latin typeface="Calibri"/>
              </a:rPr>
              <a:t>occupants walk through auto sliding doors; floor color shifts blue → red with temperature. Subscribes to MQTT over WebSocket directly in the browser.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C3B57"/>
                </a:solidFill>
                <a:latin typeface="Calibri"/>
              </a:rPr>
              <a:t>•  Quality: </a:t>
            </a:r>
            <a:r>
              <a:rPr sz="1500" b="0">
                <a:solidFill>
                  <a:srgbClr val="5A6472"/>
                </a:solidFill>
                <a:latin typeface="Calibri"/>
              </a:rPr>
              <a:t>32 unit tests covering physics, PID behaviour, and MQTT command handling.</a:t>
            </a:r>
          </a:p>
        </p:txBody>
      </p:sp>
      <p:pic>
        <p:nvPicPr>
          <p:cNvPr id="4" name="Picture 3" descr="room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32145"/>
            <a:ext cx="5394960" cy="2633789"/>
          </a:xfrm>
          <a:prstGeom prst="rect">
            <a:avLst/>
          </a:prstGeom>
          <a:ln w="12700">
            <a:solidFill>
              <a:srgbClr val="C7D0D8"/>
            </a:solidFill>
          </a:ln>
        </p:spPr>
      </p:pic>
    </p:spTree>
    <p:extLst>
      <p:ext uri="{BB962C8B-B14F-4D97-AF65-F5344CB8AC3E}">
        <p14:creationId xmlns:p14="http://schemas.microsoft.com/office/powerpoint/2010/main" val="457433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Working Prototype — How to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6949440" cy="4480560"/>
          </a:xfrm>
          <a:prstGeom prst="roundRect">
            <a:avLst/>
          </a:prstGeom>
          <a:solidFill>
            <a:srgbClr val="15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1. Start the MQTT broker (Docker)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docker compose up -d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2. Install dependencies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sync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3. Launch the three components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run simulator/publisher.py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run streamlit run dashboard/app.py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run python -m http.server 8000 --directory room3d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4. Open the dashboard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234440"/>
            <a:ext cx="4023360" cy="448056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Stack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Python 3 + uv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Eclipse Mosquitto 2 (Docker)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paho-mqtt (publisher / subscriber)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Streamlit + Plotly (dashboard)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Three.js + MQTT.js over WebSocket (3D)</a:t>
            </a:r>
          </a:p>
          <a:p>
            <a:pPr algn="l">
              <a:spcAft>
                <a:spcPts val="500"/>
              </a:spcAft>
            </a:pPr>
            <a:endParaRPr sz="1350" b="0">
              <a:solidFill>
                <a:srgbClr val="5A6472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Ports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1883 — MQTT (TCP)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9001 — MQTT (WebSocket)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8501 — Dashboard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8000 — 3D room view</a:t>
            </a:r>
          </a:p>
        </p:txBody>
      </p:sp>
    </p:spTree>
    <p:extLst>
      <p:ext uri="{BB962C8B-B14F-4D97-AF65-F5344CB8AC3E}">
        <p14:creationId xmlns:p14="http://schemas.microsoft.com/office/powerpoint/2010/main" val="359099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6CA9-5FF5-92E2-B54B-7BA7C8729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5B647-9D49-7BF9-0D73-500E3903BD43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lang="vi-VN" sz="3000" b="1">
                <a:solidFill>
                  <a:srgbClr val="FFFFFF"/>
                </a:solidFill>
                <a:latin typeface="Calibri"/>
              </a:rPr>
              <a:t>Demo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B974A4-BFA0-C496-3BFB-1BCF1F48211D}"/>
              </a:ext>
            </a:extLst>
          </p:cNvPr>
          <p:cNvSpPr/>
          <p:nvPr/>
        </p:nvSpPr>
        <p:spPr>
          <a:xfrm>
            <a:off x="457200" y="1234440"/>
            <a:ext cx="6949440" cy="4480560"/>
          </a:xfrm>
          <a:prstGeom prst="roundRect">
            <a:avLst/>
          </a:prstGeom>
          <a:solidFill>
            <a:srgbClr val="15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1. Start the MQTT broker (Docker)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docker compose up -d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2. Install dependencies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sync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3. Launch the three components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run simulator/publisher.py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run streamlit run dashboard/app.py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uv run python -m http.server 8000 --directory room3d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4E7292"/>
                </a:solidFill>
                <a:latin typeface="Consolas"/>
              </a:rPr>
              <a:t># 4. Open the dashboard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3E8E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CB061D-5422-D247-449C-26F1972BD480}"/>
              </a:ext>
            </a:extLst>
          </p:cNvPr>
          <p:cNvSpPr/>
          <p:nvPr/>
        </p:nvSpPr>
        <p:spPr>
          <a:xfrm>
            <a:off x="7680960" y="1234440"/>
            <a:ext cx="4023360" cy="448056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Stack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Python 3 + uv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Eclipse Mosquitto 2 (Docker)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paho-mqtt (publisher / subscriber)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Streamlit + Plotly (dashboard)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Three.js + MQTT.js over WebSocket (3D)</a:t>
            </a:r>
          </a:p>
          <a:p>
            <a:pPr algn="l">
              <a:spcAft>
                <a:spcPts val="500"/>
              </a:spcAft>
            </a:pPr>
            <a:endParaRPr sz="1350" b="0">
              <a:solidFill>
                <a:srgbClr val="5A6472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1C3B57"/>
                </a:solidFill>
                <a:latin typeface="Calibri"/>
              </a:rPr>
              <a:t>Ports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1883 — MQTT (TCP)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9001 — MQTT (WebSocket)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8501 — Dashboard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• 8000 — 3D room view</a:t>
            </a:r>
          </a:p>
        </p:txBody>
      </p:sp>
    </p:spTree>
    <p:extLst>
      <p:ext uri="{BB962C8B-B14F-4D97-AF65-F5344CB8AC3E}">
        <p14:creationId xmlns:p14="http://schemas.microsoft.com/office/powerpoint/2010/main" val="882148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 — Deliverables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C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3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>
                    <a:solidFill>
                      <a:srgbClr val="1C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Architecture Diagram (6 layers, sensing → dashboard)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E5A"/>
                          </a:solidFill>
                          <a:latin typeface="Calibri"/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docs/architecture.md + Slide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Working Prototype (live dashboard on simulated feed)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E5A"/>
                          </a:solidFill>
                          <a:latin typeface="Calibri"/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Streamlit + MQTT + simulator (Slide 7)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Technical Summary (protocol choice &amp; suitability)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E5A"/>
                          </a:solidFill>
                          <a:latin typeface="Calibri"/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docs/architecture.md + Slide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Asset virtualization: temp / humidity / occupancy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E5A"/>
                          </a:solidFill>
                          <a:latin typeface="Calibri"/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physics.py, 3D view (Slide 3)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Threshold alert at 30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8E5A"/>
                          </a:solidFill>
                          <a:latin typeface="Calibri"/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Dashboard with hysteresis (Slide 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Extras: PID closed-loop HVAC, 3D view, 32 tests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4405A"/>
                          </a:solidFill>
                          <a:latin typeface="Calibri"/>
                        </a:defRPr>
                      </a:pPr>
                      <a:r>
                        <a:t>＋ Bonus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3B57"/>
                          </a:solidFill>
                          <a:latin typeface="Calibri"/>
                        </a:defRPr>
                      </a:pPr>
                      <a:r>
                        <a:t>Slide 8</a:t>
                      </a:r>
                    </a:p>
                  </a:txBody>
                  <a:tcPr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303520"/>
            <a:ext cx="11064240" cy="1005840"/>
          </a:xfrm>
          <a:prstGeom prst="round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3B57"/>
                </a:solidFill>
                <a:latin typeface="Calibri"/>
              </a:rPr>
              <a:t>The system establishes a complete, live Digital Thread: physics-based sensing → MQTT connectivity → real-time twin state → interactive dashboard — with a closed feedback loop that lets the digital twin act back on its (simulated) physical space.</a:t>
            </a:r>
          </a:p>
        </p:txBody>
      </p:sp>
    </p:spTree>
    <p:extLst>
      <p:ext uri="{BB962C8B-B14F-4D97-AF65-F5344CB8AC3E}">
        <p14:creationId xmlns:p14="http://schemas.microsoft.com/office/powerpoint/2010/main" val="385227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2D2471-15C0-5944-A84D-44F5A54F1E0D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3df05350-855a-400e-97ac-91f15cc6ad0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1535</Words>
  <Application>Microsoft Macintosh PowerPoint</Application>
  <PresentationFormat>Widescreen</PresentationFormat>
  <Paragraphs>201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MSTR - Vu Xuan Khanh</cp:lastModifiedBy>
  <cp:revision>3</cp:revision>
  <dcterms:created xsi:type="dcterms:W3CDTF">2013-01-27T09:14:16Z</dcterms:created>
  <dcterms:modified xsi:type="dcterms:W3CDTF">2026-07-17T15:10:58Z</dcterms:modified>
  <cp:category/>
</cp:coreProperties>
</file>